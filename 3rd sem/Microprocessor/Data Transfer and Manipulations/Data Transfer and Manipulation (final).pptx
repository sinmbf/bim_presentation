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8BE34-2838-4275-ABDC-2AEAD8A9EB53}" v="2654" dt="2025-02-04T17:03:29.311"/>
    <p1510:client id="{C64075A4-6BCB-49C9-AE0F-8033FEA418B8}" v="2287" dt="2025-02-05T04:39:16.929"/>
    <p1510:client id="{CBB6E1A5-33B5-42B8-AF4F-E5C2E62E4A00}" v="2307" dt="2025-02-04T18:23:25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01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34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63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44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28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79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91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26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0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1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9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0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Data Transfer And Manipulation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Presented By: Siddhartha Shakya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852BF-1553-A84A-46D6-614C48B5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1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9608-3996-406B-6BF5-5C37DFF8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034" y="102967"/>
            <a:ext cx="10240903" cy="1233488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FAFE9-9178-1E6E-AC43-FA54CB765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1730401"/>
            <a:ext cx="10168128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Introduction to data transfer instructions.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Different types of data transfer instructions.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Introduction to data manipulation instructions.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Different types of data manipulation instructions.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E57F3-F8E1-5E8D-CFDD-2F0F2FC7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2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670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8590-D0E9-1F2C-3EDA-9530CB82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75" y="304250"/>
            <a:ext cx="10240903" cy="1233488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Introduction to Data Transfer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8DC7B-F010-3F93-E41A-8B5A6BBA0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1730401"/>
            <a:ext cx="10168128" cy="480123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Data transfer simply means moving data from one place to another.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And the instructions that help us transfer data from one place to another without changing the actual content are known as data transfer instructions.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They are also called copy instructions.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Typically the transfers are between: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1000"/>
              </a:spcAft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lvl="1">
              <a:spcAft>
                <a:spcPts val="1000"/>
              </a:spcAft>
              <a:buFont typeface="Courier New" panose="020B0604020202020204" pitchFamily="34" charset="0"/>
              <a:buChar char="o"/>
            </a:pP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E7756-3065-6155-4FA3-2FD13AF4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3</a:t>
            </a:fld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F4EC8-461F-FA90-6D60-C360074482FD}"/>
              </a:ext>
            </a:extLst>
          </p:cNvPr>
          <p:cNvSpPr txBox="1"/>
          <p:nvPr/>
        </p:nvSpPr>
        <p:spPr>
          <a:xfrm>
            <a:off x="913146" y="4694760"/>
            <a:ext cx="9845615" cy="477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110000"/>
              </a:lnSpc>
              <a:spcBef>
                <a:spcPts val="500"/>
              </a:spcBef>
              <a:spcAft>
                <a:spcPts val="1000"/>
              </a:spcAft>
              <a:buFont typeface="Courier New,monospace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memory and processor registers,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3DB75-2BE4-0547-18B5-D4D4174C1D4E}"/>
              </a:ext>
            </a:extLst>
          </p:cNvPr>
          <p:cNvSpPr txBox="1"/>
          <p:nvPr/>
        </p:nvSpPr>
        <p:spPr>
          <a:xfrm>
            <a:off x="916021" y="5315862"/>
            <a:ext cx="9845615" cy="477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110000"/>
              </a:lnSpc>
              <a:spcBef>
                <a:spcPts val="500"/>
              </a:spcBef>
              <a:spcAft>
                <a:spcPts val="1000"/>
              </a:spcAft>
              <a:buFont typeface="Courier New,monospace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Registers themselves,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739C4-8B3A-7AE6-7740-42EEE8ED45E9}"/>
              </a:ext>
            </a:extLst>
          </p:cNvPr>
          <p:cNvSpPr txBox="1"/>
          <p:nvPr/>
        </p:nvSpPr>
        <p:spPr>
          <a:xfrm>
            <a:off x="921772" y="5882329"/>
            <a:ext cx="9845615" cy="477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110000"/>
              </a:lnSpc>
              <a:spcBef>
                <a:spcPts val="500"/>
              </a:spcBef>
              <a:spcAft>
                <a:spcPts val="1000"/>
              </a:spcAft>
              <a:buFont typeface="Courier New,monospace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processor registers and I/O devices,</a:t>
            </a:r>
          </a:p>
        </p:txBody>
      </p:sp>
    </p:spTree>
    <p:extLst>
      <p:ext uri="{BB962C8B-B14F-4D97-AF65-F5344CB8AC3E}">
        <p14:creationId xmlns:p14="http://schemas.microsoft.com/office/powerpoint/2010/main" val="369837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9" grpId="0" build="p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032C-8CD3-C922-56C8-36B7C1C54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355" y="146099"/>
            <a:ext cx="10240903" cy="1233488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Typical Data Transfer Instructions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BC73193-394E-716A-E93A-A7004F479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49789"/>
              </p:ext>
            </p:extLst>
          </p:nvPr>
        </p:nvGraphicFramePr>
        <p:xfrm>
          <a:off x="632603" y="1509622"/>
          <a:ext cx="10934070" cy="4879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44690">
                  <a:extLst>
                    <a:ext uri="{9D8B030D-6E8A-4147-A177-3AD203B41FA5}">
                      <a16:colId xmlns:a16="http://schemas.microsoft.com/office/drawing/2014/main" val="3427733484"/>
                    </a:ext>
                  </a:extLst>
                </a:gridCol>
                <a:gridCol w="3644690">
                  <a:extLst>
                    <a:ext uri="{9D8B030D-6E8A-4147-A177-3AD203B41FA5}">
                      <a16:colId xmlns:a16="http://schemas.microsoft.com/office/drawing/2014/main" val="1204973725"/>
                    </a:ext>
                  </a:extLst>
                </a:gridCol>
                <a:gridCol w="3644690">
                  <a:extLst>
                    <a:ext uri="{9D8B030D-6E8A-4147-A177-3AD203B41FA5}">
                      <a16:colId xmlns:a16="http://schemas.microsoft.com/office/drawing/2014/main" val="1153733933"/>
                    </a:ext>
                  </a:extLst>
                </a:gridCol>
              </a:tblGrid>
              <a:tr h="36418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Mnemonic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Definition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360011"/>
                  </a:ext>
                </a:extLst>
              </a:tr>
              <a:tr h="637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Transfer from memory to register (accumulator)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905245"/>
                  </a:ext>
                </a:extLst>
              </a:tr>
              <a:tr h="4734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Transfer from register (accumulator) to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403567"/>
                  </a:ext>
                </a:extLst>
              </a:tr>
              <a:tr h="4734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Transfer from source to destination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57093"/>
                  </a:ext>
                </a:extLst>
              </a:tr>
              <a:tr h="67373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Exchange contents of two registers or register and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796055"/>
                  </a:ext>
                </a:extLst>
              </a:tr>
              <a:tr h="637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Transfer from input device to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898377"/>
                  </a:ext>
                </a:extLst>
              </a:tr>
              <a:tr h="637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Transfer from memory to output device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619782"/>
                  </a:ext>
                </a:extLst>
              </a:tr>
              <a:tr h="637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Push/Pop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PUSH/POP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Transfer data between registers and memory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94776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879B-0149-22C2-0EE6-83DBD35A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4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328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A382A-FA20-E6A6-B8D2-94AF2F69B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D10CC-1827-C227-F1F2-5C107BCC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327804"/>
            <a:ext cx="10309745" cy="1233488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Some Examples of Data Transfer Instructions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AFC5D-0254-2D0A-C981-90127C81F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1730401"/>
            <a:ext cx="10185496" cy="2170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Mov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7E6D36C-4C91-5A9A-E68F-938061D4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2577" y="4188930"/>
            <a:ext cx="10171117" cy="2543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2.  LD</a:t>
            </a: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4F1A1-C1F2-2EA3-7EE2-6064698A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5</a:t>
            </a:fld>
            <a:endParaRPr lang="en-US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07B324E-813D-605F-3C04-6192DF996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070333"/>
              </p:ext>
            </p:extLst>
          </p:nvPr>
        </p:nvGraphicFramePr>
        <p:xfrm>
          <a:off x="1754037" y="2429774"/>
          <a:ext cx="8168640" cy="1145091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262661317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725459085"/>
                    </a:ext>
                  </a:extLst>
                </a:gridCol>
              </a:tblGrid>
              <a:tr h="40341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62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Mov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Copies the content of R2 to R1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58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Mov R1, 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Immediately put data 500 in R1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6242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991713-9619-3782-2582-EFCAC1888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55509"/>
              </p:ext>
            </p:extLst>
          </p:nvPr>
        </p:nvGraphicFramePr>
        <p:xfrm>
          <a:off x="1754036" y="4845169"/>
          <a:ext cx="8168640" cy="1531845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262661317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725459085"/>
                    </a:ext>
                  </a:extLst>
                </a:gridCol>
              </a:tblGrid>
              <a:tr h="360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628401"/>
                  </a:ext>
                </a:extLst>
              </a:tr>
              <a:tr h="333469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LD 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Copies the content R1 to 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589867"/>
                  </a:ext>
                </a:extLst>
              </a:tr>
              <a:tr h="80032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LD (R1)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Copies the content of memory location whose address is stored in R1 into 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624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78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C38EA-89EF-F678-790F-161F954A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A579B-7677-7E9D-76C2-1468EA27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08" y="476778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Data Transfer Instructions with different addressing modes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F4AFC0-3022-3526-9828-0D5C2503A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418714"/>
              </p:ext>
            </p:extLst>
          </p:nvPr>
        </p:nvGraphicFramePr>
        <p:xfrm>
          <a:off x="1116013" y="2104277"/>
          <a:ext cx="10167936" cy="37083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9312">
                  <a:extLst>
                    <a:ext uri="{9D8B030D-6E8A-4147-A177-3AD203B41FA5}">
                      <a16:colId xmlns:a16="http://schemas.microsoft.com/office/drawing/2014/main" val="2991477187"/>
                    </a:ext>
                  </a:extLst>
                </a:gridCol>
                <a:gridCol w="3389312">
                  <a:extLst>
                    <a:ext uri="{9D8B030D-6E8A-4147-A177-3AD203B41FA5}">
                      <a16:colId xmlns:a16="http://schemas.microsoft.com/office/drawing/2014/main" val="4105215088"/>
                    </a:ext>
                  </a:extLst>
                </a:gridCol>
                <a:gridCol w="3389312">
                  <a:extLst>
                    <a:ext uri="{9D8B030D-6E8A-4147-A177-3AD203B41FA5}">
                      <a16:colId xmlns:a16="http://schemas.microsoft.com/office/drawing/2014/main" val="2351994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Assembly Convention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Register Transfer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12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Direct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LD ADR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AC &lt;- M[ADR]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78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Indirect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LD @ADR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AC &lt;- M[M[ADR]]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233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Relative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LD $ADR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AC &lt;- M[PC + ADR]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3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Immediate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LD #NBR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AC &lt;- NBR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78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Index addressing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LD ADR(X)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AC &lt;- M[ADR + XR]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572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LD 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AC &lt;- R1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09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Register indirect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LD (R1)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AC &lt;- M[R1]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222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latin typeface="Calibri"/>
                        </a:rPr>
                        <a:t>Auto 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alibri"/>
                        </a:rPr>
                        <a:t>LD (R1)+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latin typeface="Calibri"/>
                        </a:rPr>
                        <a:t>AC &lt;- M[R1], R1 &lt;- R1+1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93309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latin typeface="Calibri"/>
                        </a:rPr>
                        <a:t>Auto decrement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Calibri"/>
                        </a:rPr>
                        <a:t>LD (R1)-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latin typeface="Calibri"/>
                        </a:rPr>
                        <a:t>R1 &lt;- R1 – 1, AC &lt;- M[R1]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665743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EDCC3-F428-3DBF-C708-60818D27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6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429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9BBA-C043-50A4-8DD3-F926C502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978E-A679-F42C-7F7C-96C36384B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08" y="117344"/>
            <a:ext cx="10758487" cy="1233488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Introduction to </a:t>
            </a:r>
            <a:r>
              <a:rPr lang="en-US" dirty="0">
                <a:latin typeface="Calibri"/>
                <a:ea typeface="Calibri"/>
                <a:cs typeface="Calibri"/>
              </a:rPr>
              <a:t>Data Manipulation</a:t>
            </a:r>
            <a:r>
              <a:rPr lang="en-US" b="1" dirty="0">
                <a:latin typeface="Calibri"/>
                <a:ea typeface="Calibri"/>
                <a:cs typeface="Calibri"/>
              </a:rPr>
              <a:t>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6E56C-CB2B-1F55-FE85-C4849B4A0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1730401"/>
            <a:ext cx="10168128" cy="480123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Data manipulation refers to processes that transform and operate on data to achieve desired outcomes. 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The instructions that help us manipulate data are known as data manipulation instructions.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There are three basic types of data manipulation instructions. They are:</a:t>
            </a:r>
          </a:p>
          <a:p>
            <a:pPr lvl="1">
              <a:spcAft>
                <a:spcPts val="1000"/>
              </a:spcAft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+mn-lt"/>
                <a:cs typeface="+mn-lt"/>
              </a:rPr>
              <a:t>Arithmetic Instructions,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>
              <a:spcAft>
                <a:spcPts val="1000"/>
              </a:spcAft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+mn-lt"/>
                <a:cs typeface="+mn-lt"/>
              </a:rPr>
              <a:t>Logical and bit manipulation instructions,</a:t>
            </a:r>
          </a:p>
          <a:p>
            <a:pPr lvl="1">
              <a:spcAft>
                <a:spcPts val="1000"/>
              </a:spcAft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+mn-lt"/>
                <a:cs typeface="+mn-lt"/>
              </a:rPr>
              <a:t>Shift Instructions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1000"/>
              </a:spcAft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lvl="1">
              <a:spcAft>
                <a:spcPts val="1000"/>
              </a:spcAft>
              <a:buFont typeface="Courier New" panose="020B0604020202020204" pitchFamily="34" charset="0"/>
              <a:buChar char="o"/>
            </a:pP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8A20E-5F5F-AA1B-A603-F2AA519A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7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505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EA300-2929-5D5B-653F-070AA783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14DD-BA1F-8A20-0C5D-914A86ED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279" y="117344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Arithmetic Instructions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81427B-40E9-56EC-8B51-D604179036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3599668"/>
              </p:ext>
            </p:extLst>
          </p:nvPr>
        </p:nvGraphicFramePr>
        <p:xfrm>
          <a:off x="977659" y="1523999"/>
          <a:ext cx="10167926" cy="46102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1982">
                  <a:extLst>
                    <a:ext uri="{9D8B030D-6E8A-4147-A177-3AD203B41FA5}">
                      <a16:colId xmlns:a16="http://schemas.microsoft.com/office/drawing/2014/main" val="2991477187"/>
                    </a:ext>
                  </a:extLst>
                </a:gridCol>
                <a:gridCol w="2136587">
                  <a:extLst>
                    <a:ext uri="{9D8B030D-6E8A-4147-A177-3AD203B41FA5}">
                      <a16:colId xmlns:a16="http://schemas.microsoft.com/office/drawing/2014/main" val="4105215088"/>
                    </a:ext>
                  </a:extLst>
                </a:gridCol>
                <a:gridCol w="1957294">
                  <a:extLst>
                    <a:ext uri="{9D8B030D-6E8A-4147-A177-3AD203B41FA5}">
                      <a16:colId xmlns:a16="http://schemas.microsoft.com/office/drawing/2014/main" val="3304236246"/>
                    </a:ext>
                  </a:extLst>
                </a:gridCol>
                <a:gridCol w="3532063">
                  <a:extLst>
                    <a:ext uri="{9D8B030D-6E8A-4147-A177-3AD203B41FA5}">
                      <a16:colId xmlns:a16="http://schemas.microsoft.com/office/drawing/2014/main" val="2351994966"/>
                    </a:ext>
                  </a:extLst>
                </a:gridCol>
              </a:tblGrid>
              <a:tr h="29667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Mnemonic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121779"/>
                  </a:ext>
                </a:extLst>
              </a:tr>
              <a:tr h="51244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libri"/>
                        </a:rPr>
                        <a:t>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INC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INC 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+ 1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785844"/>
                  </a:ext>
                </a:extLst>
              </a:tr>
              <a:tr h="51244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libri"/>
                        </a:rPr>
                        <a:t>Decrement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DEC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DEC 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R1 - 1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233108"/>
                  </a:ext>
                </a:extLst>
              </a:tr>
              <a:tr h="51244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libri"/>
                        </a:rPr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ADD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+ 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3797"/>
                  </a:ext>
                </a:extLst>
              </a:tr>
              <a:tr h="51244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libri"/>
                        </a:rPr>
                        <a:t>Subtract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SUB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SUB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R1 - 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785552"/>
                  </a:ext>
                </a:extLst>
              </a:tr>
              <a:tr h="51244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libri"/>
                        </a:rPr>
                        <a:t>Multiply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MUL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MUL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* 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572743"/>
                  </a:ext>
                </a:extLst>
              </a:tr>
              <a:tr h="51244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libri"/>
                        </a:rPr>
                        <a:t>Divide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DIV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DIV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/ 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09320"/>
                  </a:ext>
                </a:extLst>
              </a:tr>
              <a:tr h="51244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alibri"/>
                        </a:rPr>
                        <a:t>Add with carry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/>
                        </a:rPr>
                        <a:t>ADDC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ADDC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+ R2 + 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2229"/>
                  </a:ext>
                </a:extLst>
              </a:tr>
              <a:tr h="65741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Subtract with Borrow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SUBB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latin typeface="Calibri"/>
                        </a:rPr>
                        <a:t>SUBB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R1 &lt;- R1 – R2 -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93309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8AD54-D21C-6E8A-0031-0FEB50CD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8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416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2661-CF8D-96B6-B94E-98A52E80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471B-6CB1-D0C7-854A-0B123E57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85" y="131721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Logical and Bit Manipulation Instructions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C1A656-83B4-5B2F-701E-64D5EE545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981325"/>
              </p:ext>
            </p:extLst>
          </p:nvPr>
        </p:nvGraphicFramePr>
        <p:xfrm>
          <a:off x="1121433" y="1567132"/>
          <a:ext cx="9585178" cy="47887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6295">
                  <a:extLst>
                    <a:ext uri="{9D8B030D-6E8A-4147-A177-3AD203B41FA5}">
                      <a16:colId xmlns:a16="http://schemas.microsoft.com/office/drawing/2014/main" val="2991477187"/>
                    </a:ext>
                  </a:extLst>
                </a:gridCol>
                <a:gridCol w="2014134">
                  <a:extLst>
                    <a:ext uri="{9D8B030D-6E8A-4147-A177-3AD203B41FA5}">
                      <a16:colId xmlns:a16="http://schemas.microsoft.com/office/drawing/2014/main" val="4105215088"/>
                    </a:ext>
                  </a:extLst>
                </a:gridCol>
                <a:gridCol w="1859202">
                  <a:extLst>
                    <a:ext uri="{9D8B030D-6E8A-4147-A177-3AD203B41FA5}">
                      <a16:colId xmlns:a16="http://schemas.microsoft.com/office/drawing/2014/main" val="3304236246"/>
                    </a:ext>
                  </a:extLst>
                </a:gridCol>
                <a:gridCol w="3315547">
                  <a:extLst>
                    <a:ext uri="{9D8B030D-6E8A-4147-A177-3AD203B41FA5}">
                      <a16:colId xmlns:a16="http://schemas.microsoft.com/office/drawing/2014/main" val="2351994966"/>
                    </a:ext>
                  </a:extLst>
                </a:gridCol>
              </a:tblGrid>
              <a:tr h="3005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Mnemonic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121779"/>
                  </a:ext>
                </a:extLst>
              </a:tr>
              <a:tr h="46447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/>
                        </a:rPr>
                        <a:t>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CLR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CLR 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R1 &lt;- 0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785844"/>
                  </a:ext>
                </a:extLst>
              </a:tr>
              <a:tr h="46447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/>
                        </a:rPr>
                        <a:t>Complement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COM 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R1 &lt;- R1'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233108"/>
                  </a:ext>
                </a:extLst>
              </a:tr>
              <a:tr h="46447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/>
                        </a:rPr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AND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R1 &lt;- R1 AND 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3797"/>
                  </a:ext>
                </a:extLst>
              </a:tr>
              <a:tr h="46447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/>
                        </a:rPr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OR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R1 &lt;- R1 OR 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785552"/>
                  </a:ext>
                </a:extLst>
              </a:tr>
              <a:tr h="46447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/>
                        </a:rPr>
                        <a:t>Exclusive-OR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XOR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XOR R1, 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R1 &lt;- R1 XOR 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572743"/>
                  </a:ext>
                </a:extLst>
              </a:tr>
              <a:tr h="46447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/>
                        </a:rPr>
                        <a:t>Clear carry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CLRC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CLRC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cy &lt;- 0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09320"/>
                  </a:ext>
                </a:extLst>
              </a:tr>
              <a:tr h="464474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Calibri"/>
                        </a:rPr>
                        <a:t>Set carry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/>
                        </a:rPr>
                        <a:t>SETC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SETC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cy &lt;- 1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2229"/>
                  </a:ext>
                </a:extLst>
              </a:tr>
              <a:tr h="60108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Complement carry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COMC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COMC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cy  &lt;- cy'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96577"/>
                  </a:ext>
                </a:extLst>
              </a:tr>
              <a:tr h="60108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Enable interrupt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latin typeface="Calibri"/>
                        </a:rPr>
                        <a:t>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/>
                        <a:t>Enables interrupt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93309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C98FA-A40F-3932-17EC-C03CFC08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9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119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BE5A-857E-449A-F613-4F15078E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9471-A417-DA1F-8BEC-4CCBFC92A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81" y="2325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Shift Instructions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347DB8B-40C7-B14B-99F7-A204AD922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67707"/>
              </p:ext>
            </p:extLst>
          </p:nvPr>
        </p:nvGraphicFramePr>
        <p:xfrm>
          <a:off x="1250830" y="1408980"/>
          <a:ext cx="9698263" cy="48231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08021">
                  <a:extLst>
                    <a:ext uri="{9D8B030D-6E8A-4147-A177-3AD203B41FA5}">
                      <a16:colId xmlns:a16="http://schemas.microsoft.com/office/drawing/2014/main" val="2991477187"/>
                    </a:ext>
                  </a:extLst>
                </a:gridCol>
                <a:gridCol w="2528302">
                  <a:extLst>
                    <a:ext uri="{9D8B030D-6E8A-4147-A177-3AD203B41FA5}">
                      <a16:colId xmlns:a16="http://schemas.microsoft.com/office/drawing/2014/main" val="4105215088"/>
                    </a:ext>
                  </a:extLst>
                </a:gridCol>
                <a:gridCol w="4161940">
                  <a:extLst>
                    <a:ext uri="{9D8B030D-6E8A-4147-A177-3AD203B41FA5}">
                      <a16:colId xmlns:a16="http://schemas.microsoft.com/office/drawing/2014/main" val="2351994966"/>
                    </a:ext>
                  </a:extLst>
                </a:gridCol>
              </a:tblGrid>
              <a:tr h="3585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Mnemonic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121779"/>
                  </a:ext>
                </a:extLst>
              </a:tr>
              <a:tr h="4815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/>
                        </a:rPr>
                        <a:t>Logical shift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SHR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Shifts to the right and fills MSB with 0.</a:t>
                      </a:r>
                      <a:endParaRPr lang="en-US" dirty="0"/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 (Result = x/2)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785844"/>
                  </a:ext>
                </a:extLst>
              </a:tr>
              <a:tr h="4815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/>
                        </a:rPr>
                        <a:t>Logical shift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SHL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Shifts to the left and fills the LSB with 0.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(Result = 2x)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233108"/>
                  </a:ext>
                </a:extLst>
              </a:tr>
              <a:tr h="67983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/>
                        </a:rPr>
                        <a:t>Arithmetic shift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SHRA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Shifts to the right, preserving the sign. (Copies MSB into the vacated place)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(Result = x/2)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3797"/>
                  </a:ext>
                </a:extLst>
              </a:tr>
              <a:tr h="67983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/>
                        </a:rPr>
                        <a:t>Arithmetic shift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SHLA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Shifts to the left. Sign doesn't change if MSB remains same.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(Result = 2x)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785552"/>
                  </a:ext>
                </a:extLst>
              </a:tr>
              <a:tr h="48155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/>
                        </a:rPr>
                        <a:t>Rotate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Rotate all bits to the right, with LSB moved to MSB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572743"/>
                  </a:ext>
                </a:extLst>
              </a:tr>
              <a:tr h="41073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/>
                        </a:rPr>
                        <a:t>Rotate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Rotate all bits to the left, with MSB moved to LSB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09320"/>
                  </a:ext>
                </a:extLst>
              </a:tr>
              <a:tr h="36824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alibri"/>
                        </a:rPr>
                        <a:t>Rotate right through carry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</a:rPr>
                        <a:t>RORC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Similar to ROR but LSB goes to carry flag and the carry flag goes to MSB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2229"/>
                  </a:ext>
                </a:extLst>
              </a:tr>
              <a:tr h="29882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dirty="0">
                          <a:latin typeface="Calibri"/>
                        </a:rPr>
                        <a:t>Rotate left through carry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</a:rPr>
                        <a:t>ROLC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/>
                        <a:t>Similar to ROL but MSB goes to carry flag and the carry flag goes to LSB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9657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5F712-C7B3-0E9B-215C-D633F4EA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10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745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C05F-F871-F2D3-BB3F-D2AE61E6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9FD1-4A42-D066-2ADF-C1994B68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41" y="227162"/>
            <a:ext cx="10309745" cy="1233488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Some Examples of Shift Instructions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A407-64CD-F37C-270C-785546D69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1615382"/>
            <a:ext cx="10185496" cy="2170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latin typeface="Calibri"/>
                <a:ea typeface="Calibri"/>
                <a:cs typeface="Calibri"/>
              </a:rPr>
              <a:t>SHR (Logical shift right):</a:t>
            </a:r>
            <a:r>
              <a:rPr lang="en-US" dirty="0">
                <a:latin typeface="Calibri"/>
                <a:ea typeface="Calibri"/>
                <a:cs typeface="Calibri"/>
              </a:rPr>
              <a:t> Result = x/2</a:t>
            </a: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B746326-D73F-B88B-5F33-7F7AF7121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2577" y="3858251"/>
            <a:ext cx="10171117" cy="2543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2.  </a:t>
            </a:r>
            <a:r>
              <a:rPr lang="en-US" b="1" dirty="0">
                <a:latin typeface="Calibri"/>
                <a:ea typeface="Calibri"/>
                <a:cs typeface="Calibri"/>
              </a:rPr>
              <a:t>ROLC (Rotate left through carry)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A0D27-FBAE-4B97-4CE1-7C067386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11</a:t>
            </a:fld>
            <a:endParaRPr lang="en-US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9C643C8-FAA2-D03A-714B-138628ECD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06478"/>
              </p:ext>
            </p:extLst>
          </p:nvPr>
        </p:nvGraphicFramePr>
        <p:xfrm>
          <a:off x="1754037" y="2127849"/>
          <a:ext cx="8168640" cy="1145091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262661317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725459085"/>
                    </a:ext>
                  </a:extLst>
                </a:gridCol>
              </a:tblGrid>
              <a:tr h="40341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62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Mov R1, 8CH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R1 &lt;- 10001100 (binary)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58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SHR R1,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R1 &lt;- 01000110 (46H)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62422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FDAA1E4-B21E-CFE1-050F-915E2E4CE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64362"/>
              </p:ext>
            </p:extLst>
          </p:nvPr>
        </p:nvGraphicFramePr>
        <p:xfrm>
          <a:off x="1739659" y="4485735"/>
          <a:ext cx="8183578" cy="1571942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4091789">
                  <a:extLst>
                    <a:ext uri="{9D8B030D-6E8A-4147-A177-3AD203B41FA5}">
                      <a16:colId xmlns:a16="http://schemas.microsoft.com/office/drawing/2014/main" val="3262661317"/>
                    </a:ext>
                  </a:extLst>
                </a:gridCol>
                <a:gridCol w="4091789">
                  <a:extLst>
                    <a:ext uri="{9D8B030D-6E8A-4147-A177-3AD203B41FA5}">
                      <a16:colId xmlns:a16="http://schemas.microsoft.com/office/drawing/2014/main" val="2725459085"/>
                    </a:ext>
                  </a:extLst>
                </a:gridCol>
              </a:tblGrid>
              <a:tr h="3056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628401"/>
                  </a:ext>
                </a:extLst>
              </a:tr>
              <a:tr h="30560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MOV R1, 81H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R1 &lt;- 10000001 (binary)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589867"/>
                  </a:ext>
                </a:extLst>
              </a:tr>
              <a:tr h="420211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STC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libri"/>
                        </a:rPr>
                        <a:t>Cy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624226"/>
                  </a:ext>
                </a:extLst>
              </a:tr>
              <a:tr h="42021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latin typeface="Calibri"/>
                        </a:rPr>
                        <a:t>ROLC R1,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latin typeface="Calibri"/>
                        </a:rPr>
                        <a:t>R1 &lt;- 00000011, cy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336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54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0619-FF43-CB10-2482-15FA6EB80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455F-873F-EE61-2CC5-EEE7EA2DE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08" y="117344"/>
            <a:ext cx="10758487" cy="1233488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Conclusion</a:t>
            </a:r>
            <a:endParaRPr lang="en-US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B67FC-87AF-6F6A-4944-45080BF38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1730401"/>
            <a:ext cx="10168128" cy="480123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n-US" sz="2400" dirty="0">
                <a:latin typeface="Calibri"/>
                <a:ea typeface="Calibri"/>
                <a:cs typeface="Calibri"/>
              </a:rPr>
              <a:t>In conclusion, data transfer and manipulation is an integral part of a computer system. They help us store, move, exchange and transform the data, through which we can achieve the desired outcomes.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1000"/>
              </a:spcAft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lvl="1">
              <a:spcAft>
                <a:spcPts val="1000"/>
              </a:spcAft>
              <a:buFont typeface="Courier New" panose="020B0604020202020204" pitchFamily="34" charset="0"/>
              <a:buChar char="o"/>
            </a:pP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D1320-C51B-BF70-F475-83C1C78A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12</a:t>
            </a:fld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290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127A-03CA-FB71-13A1-C226AE77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1A6F-E097-4FE6-16A6-19E0D12F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08" y="117344"/>
            <a:ext cx="10758487" cy="1233488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Thank you!!</a:t>
            </a:r>
            <a:endParaRPr lang="en-US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BFBE3-66E2-52ED-01A2-7A890BF2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1730401"/>
            <a:ext cx="10168128" cy="480123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1000"/>
              </a:spcAft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lvl="1">
              <a:spcAft>
                <a:spcPts val="1000"/>
              </a:spcAft>
              <a:buFont typeface="Courier New" panose="020B0604020202020204" pitchFamily="34" charset="0"/>
              <a:buChar char="o"/>
            </a:pP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325C3-F60C-A8E8-DAED-64CE83BA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latin typeface="Calibri"/>
                <a:ea typeface="Calibri"/>
                <a:cs typeface="Calibri"/>
              </a:rPr>
              <a:t>13</a:t>
            </a:fld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3823E-054E-EA72-FD75-50A9C58AC75C}"/>
              </a:ext>
            </a:extLst>
          </p:cNvPr>
          <p:cNvSpPr/>
          <p:nvPr/>
        </p:nvSpPr>
        <p:spPr>
          <a:xfrm>
            <a:off x="2751667" y="2328333"/>
            <a:ext cx="5482166" cy="20955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alibri"/>
                <a:ea typeface="Calibri"/>
                <a:cs typeface="Calibri"/>
              </a:rPr>
              <a:t>ANY QUERIES?</a:t>
            </a:r>
          </a:p>
        </p:txBody>
      </p:sp>
    </p:spTree>
    <p:extLst>
      <p:ext uri="{BB962C8B-B14F-4D97-AF65-F5344CB8AC3E}">
        <p14:creationId xmlns:p14="http://schemas.microsoft.com/office/powerpoint/2010/main" val="7091549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GradientRiseVTI</vt:lpstr>
      <vt:lpstr>Data Transfer And Manipulation</vt:lpstr>
      <vt:lpstr>Table of contents</vt:lpstr>
      <vt:lpstr>Introduction to Data Transfer Instructions</vt:lpstr>
      <vt:lpstr>Typical Data Transfer Instructions</vt:lpstr>
      <vt:lpstr>Some Examples of Data Transfer Instructions</vt:lpstr>
      <vt:lpstr>Data Transfer Instructions with different addressing modes</vt:lpstr>
      <vt:lpstr>Introduction to Data Manipulation Instructions</vt:lpstr>
      <vt:lpstr>Arithmetic Instructions</vt:lpstr>
      <vt:lpstr>Logical and Bit Manipulation Instructions</vt:lpstr>
      <vt:lpstr>Shift Instructions</vt:lpstr>
      <vt:lpstr>Some Examples of Shift Instructions</vt:lpstr>
      <vt:lpstr>Conclusion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1108</cp:revision>
  <dcterms:created xsi:type="dcterms:W3CDTF">2025-02-04T14:10:54Z</dcterms:created>
  <dcterms:modified xsi:type="dcterms:W3CDTF">2025-02-05T04:39:35Z</dcterms:modified>
</cp:coreProperties>
</file>
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notesMasterIdLst>
    <p:notesMasterId r:id="rId20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BC5BF-4AF4-3F47-B623-A9DC99F1194A}" type="datetimeFigureOut">
              <a:rPr lang="en-NP" smtClean="0"/>
              <a:t>8/4/25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F2CD-7538-D640-97BA-FDFBF552E6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67416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4205460-8B9A-A54D-BF8F-7246B45AA25D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CE58041-0ACF-485D-A0A1-261548E6808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47106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501D-4E6D-0047-BC67-55DDC4817975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4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929E07-95C8-544C-B0A4-6834BF104E3D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16316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0A1-1CD2-AB4C-A638-464655EEDE11}" type="datetime1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17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D0A8-721D-9641-A5C6-0B94A329EF88}" type="datetime1">
              <a:rPr lang="en-US" smtClean="0"/>
              <a:t>8/4/25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22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DCE05-BC85-D940-AE41-EC166682DC34}" type="datetime1">
              <a:rPr lang="en-US" smtClean="0"/>
              <a:t>8/4/25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37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3D5EB-CD82-0247-B8F5-E2E72841A251}" type="datetime1">
              <a:rPr lang="en-US" smtClean="0"/>
              <a:t>8/4/25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5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4B4422-20B5-9D48-97D0-7D29DCB71EF9}" type="datetime1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92093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5E8C6E-D5D8-FE4B-8911-58725D383EC8}" type="datetime1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526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9FD7-BAB7-0A45-8EDA-44305582F024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0B71-BAF5-A248-95EB-011C33D83953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7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E25B88-44AB-8671-F8B8-EED9AFA95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A3CD0-2A0C-CB79-7D56-BD7841E8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5460-8B9A-A54D-BF8F-7246B45AA25D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AB05-E3D8-C847-5BE1-DC4AEAE6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EEC38-9F5D-FA94-9AF1-DB43AD67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BCE58041-0ACF-485D-A0A1-261548E680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47618B-6F9B-6A24-95BC-BD5C1253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4111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3750BD4-4BAD-364D-B5ED-3E42E582115F}" type="datetime1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CE58041-0ACF-485D-A0A1-261548E680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033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833" r:id="rId12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DD89CE-8050-D1F3-32AE-F8CA88D88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0939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NP" sz="5400" b="1" dirty="0"/>
              <a:t>Normalization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3DB7DC-B155-C698-B70F-3310BAF8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8539"/>
            <a:ext cx="9144000" cy="2751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NP" b="1" dirty="0"/>
              <a:t>Presented By:</a:t>
            </a:r>
          </a:p>
          <a:p>
            <a:pPr>
              <a:lnSpc>
                <a:spcPct val="150000"/>
              </a:lnSpc>
            </a:pPr>
            <a:r>
              <a:rPr lang="en-NP" dirty="0"/>
              <a:t>Sakshyam Tamrakar</a:t>
            </a:r>
            <a:br>
              <a:rPr lang="en-NP" dirty="0"/>
            </a:br>
            <a:r>
              <a:rPr lang="en-NP" dirty="0"/>
              <a:t>Sameer Maharjan</a:t>
            </a:r>
            <a:br>
              <a:rPr lang="en-NP" dirty="0"/>
            </a:br>
            <a:r>
              <a:rPr lang="en-NP" dirty="0"/>
              <a:t>Siddhartha Shakya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8C061-4553-BD4B-9E56-03DC267E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4769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5870-1A8F-4777-AB0D-2F78F8DF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667"/>
            <a:ext cx="9601200" cy="1485900"/>
          </a:xfrm>
        </p:spPr>
        <p:txBody>
          <a:bodyPr/>
          <a:lstStyle/>
          <a:p>
            <a:r>
              <a:rPr lang="en-US" b="1" dirty="0"/>
              <a:t>Introduction to Database Normalization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ABB32F-155F-4782-8885-778D12CA5D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942063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of organizing data to reduce redundancy and improve consistency.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designing efficient, scalable, and easy-to-maintain databases.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Generally involves splitting tables into multiple linked tables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8229D-5015-7EDA-C5A5-31F3CF68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59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0023-5E8F-4663-8B8B-93313AD3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Do We Need Normalization?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02068-2E8A-43B4-AD5D-A3C582EAE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9735"/>
            <a:ext cx="9601200" cy="3581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Eliminate Data Redundancy</a:t>
            </a:r>
          </a:p>
          <a:p>
            <a:pPr>
              <a:lnSpc>
                <a:spcPct val="150000"/>
              </a:lnSpc>
            </a:pPr>
            <a:r>
              <a:rPr lang="en-US" dirty="0"/>
              <a:t>Avoid Inconsistencies during: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Insert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Update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Delete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F932C-F62F-ED4C-70C6-5FB57181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20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5465-52AC-4152-B4B4-48E28202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 Forms in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12863-182A-406E-9EA0-691C881BE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9112"/>
            <a:ext cx="9601200" cy="358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First Normal Form (1NF)</a:t>
            </a:r>
          </a:p>
          <a:p>
            <a:pPr>
              <a:lnSpc>
                <a:spcPct val="150000"/>
              </a:lnSpc>
            </a:pPr>
            <a:r>
              <a:rPr lang="en-US" dirty="0"/>
              <a:t>Second Normal Form (2NF)</a:t>
            </a:r>
          </a:p>
          <a:p>
            <a:pPr>
              <a:lnSpc>
                <a:spcPct val="150000"/>
              </a:lnSpc>
            </a:pPr>
            <a:r>
              <a:rPr lang="en-US" dirty="0"/>
              <a:t>Third Normal Form (3NF)</a:t>
            </a:r>
          </a:p>
          <a:p>
            <a:pPr>
              <a:lnSpc>
                <a:spcPct val="150000"/>
              </a:lnSpc>
            </a:pPr>
            <a:r>
              <a:rPr lang="en-US" dirty="0"/>
              <a:t>Boyce-Codd Normal Form (BCNF)</a:t>
            </a:r>
          </a:p>
          <a:p>
            <a:pPr>
              <a:lnSpc>
                <a:spcPct val="150000"/>
              </a:lnSpc>
            </a:pPr>
            <a:r>
              <a:rPr lang="en-US" dirty="0"/>
              <a:t>Fourth Normal Form (4NF)</a:t>
            </a:r>
          </a:p>
          <a:p>
            <a:pPr>
              <a:lnSpc>
                <a:spcPct val="150000"/>
              </a:lnSpc>
            </a:pPr>
            <a:r>
              <a:rPr lang="en-US" dirty="0"/>
              <a:t>Fifth Normal Form (5NF)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73CF5-B50E-717F-0D41-84BF96E0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4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Normal Form (1NF)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C114-0EF7-4153-A449-B5BD3C8C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28" y="1638300"/>
            <a:ext cx="9601200" cy="3581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A relation is in 1NF if:</a:t>
            </a:r>
          </a:p>
          <a:p>
            <a:pPr>
              <a:lnSpc>
                <a:spcPct val="150000"/>
              </a:lnSpc>
            </a:pPr>
            <a:r>
              <a:rPr lang="en-GB" dirty="0"/>
              <a:t>All attributes contain atomic (single) values</a:t>
            </a:r>
          </a:p>
          <a:p>
            <a:pPr>
              <a:lnSpc>
                <a:spcPct val="150000"/>
              </a:lnSpc>
            </a:pPr>
            <a:r>
              <a:rPr lang="en-GB" dirty="0"/>
              <a:t>Each record must be unique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ui-sans-serif"/>
              </a:rPr>
              <a:t>No multiple values in a single cell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97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B5A3-F18C-49F3-B8F3-0A9BCAE8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1NF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3BB95-6661-AC6C-84DD-0F3942E4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673E3-F823-4F46-89CF-F93BA7AFD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514" y="2267148"/>
            <a:ext cx="5153744" cy="232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23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AD0A-462E-452B-8AF5-3D95FCDB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1NF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7BBA3-9EA8-4045-5225-5C497AB5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D8F76-8346-4238-9A15-C1920967B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548" y="2166761"/>
            <a:ext cx="5934903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97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4989-3E04-47C2-8EBE-ECDA110A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Normal Form (2NF)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0D68-8083-457B-B8A2-80C6D5F9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17865"/>
            <a:ext cx="9601200" cy="358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In 2NF there should not be partial dependency.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table first needs to be in 1NF.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S_id</a:t>
            </a:r>
            <a:r>
              <a:rPr lang="en-US" sz="2400" dirty="0"/>
              <a:t> and </a:t>
            </a:r>
            <a:r>
              <a:rPr lang="en-US" sz="2400" dirty="0" err="1"/>
              <a:t>C_id</a:t>
            </a:r>
            <a:r>
              <a:rPr lang="en-US" sz="2400" dirty="0"/>
              <a:t> =composite primary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Course_Fee</a:t>
            </a:r>
            <a:r>
              <a:rPr lang="en-US" sz="2400" dirty="0"/>
              <a:t> = non primary attribute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7350C-4483-846E-FA2C-157F5F80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15216-C403-4637-A8B4-405C12A09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176" y="2551257"/>
            <a:ext cx="5256764" cy="297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28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BD85-AA3F-4CAD-9202-200DA014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0" y="525186"/>
            <a:ext cx="10515600" cy="580762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1B91CE-48A2-3506-E6AA-F937F95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E0C354-C483-456F-ABF3-832715D0C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35" y="1504127"/>
            <a:ext cx="3282324" cy="32595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C5BDD-9229-4BB0-A522-31E903B4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38" y="1504127"/>
            <a:ext cx="3282325" cy="3259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394311-FA00-42E5-80D3-C673EAE15419}"/>
              </a:ext>
            </a:extLst>
          </p:cNvPr>
          <p:cNvSpPr txBox="1"/>
          <p:nvPr/>
        </p:nvSpPr>
        <p:spPr>
          <a:xfrm>
            <a:off x="6648379" y="877236"/>
            <a:ext cx="361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Courses Table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EE1FA3-15A1-49F2-B2EE-015EBA467C55}"/>
              </a:ext>
            </a:extLst>
          </p:cNvPr>
          <p:cNvSpPr txBox="1"/>
          <p:nvPr/>
        </p:nvSpPr>
        <p:spPr>
          <a:xfrm>
            <a:off x="1025242" y="877236"/>
            <a:ext cx="51063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Student_Course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30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4989-3E04-47C2-8EBE-ECDA110A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Third Normal Form (3NF)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0D68-8083-457B-B8A2-80C6D5F9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28" y="1751611"/>
            <a:ext cx="9601200" cy="358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In 3NF there should not be transitive dependency in the table.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table first needs to be in 2NF.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S_id</a:t>
            </a:r>
            <a:r>
              <a:rPr lang="en-US" sz="2400" dirty="0"/>
              <a:t>  is a primary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S_id</a:t>
            </a:r>
            <a:r>
              <a:rPr lang="en-US" sz="2400" dirty="0">
                <a:sym typeface="Wingdings" panose="05000000000000000000" pitchFamily="2" charset="2"/>
              </a:rPr>
              <a:t>  </a:t>
            </a:r>
            <a:r>
              <a:rPr lang="en-US" sz="2400" dirty="0" err="1"/>
              <a:t>Zip_code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City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F6AC-588C-F7E9-E839-4AC9DDF4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08B60-D5E5-4D3B-8DA9-58E7F8091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01" y="3081033"/>
            <a:ext cx="6875912" cy="259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3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4A4894-B0A0-4398-AFEA-967E3E954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86" y="1677455"/>
            <a:ext cx="4846160" cy="262704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8A3263-C745-4146-048A-F7A82B9B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94311-FA00-42E5-80D3-C673EAE15419}"/>
              </a:ext>
            </a:extLst>
          </p:cNvPr>
          <p:cNvSpPr txBox="1"/>
          <p:nvPr/>
        </p:nvSpPr>
        <p:spPr>
          <a:xfrm>
            <a:off x="6648379" y="963180"/>
            <a:ext cx="3091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City Table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EE1FA3-15A1-49F2-B2EE-015EBA467C55}"/>
              </a:ext>
            </a:extLst>
          </p:cNvPr>
          <p:cNvSpPr txBox="1"/>
          <p:nvPr/>
        </p:nvSpPr>
        <p:spPr>
          <a:xfrm>
            <a:off x="781086" y="968316"/>
            <a:ext cx="47625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Student Table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A4FC6-8BD6-46B8-B98B-9E590BA6F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379" y="1643804"/>
            <a:ext cx="3197986" cy="266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84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Boyce-Codd Normal Form (BCNF)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C114-0EF7-4153-A449-B5BD3C8C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28" y="1739735"/>
            <a:ext cx="9601200" cy="3581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BCNF is the advance and stricter version of 3NF. A relation is in BCNF if:</a:t>
            </a:r>
          </a:p>
          <a:p>
            <a:pPr>
              <a:lnSpc>
                <a:spcPct val="150000"/>
              </a:lnSpc>
            </a:pPr>
            <a:r>
              <a:rPr lang="en-US" dirty="0"/>
              <a:t>The relation is in 3</a:t>
            </a:r>
            <a:r>
              <a:rPr lang="en-US" baseline="30000" dirty="0"/>
              <a:t>rd</a:t>
            </a:r>
            <a:r>
              <a:rPr lang="en-US" dirty="0"/>
              <a:t> normal form.</a:t>
            </a:r>
          </a:p>
          <a:p>
            <a:pPr>
              <a:lnSpc>
                <a:spcPct val="150000"/>
              </a:lnSpc>
            </a:pPr>
            <a:r>
              <a:rPr lang="en-US" dirty="0"/>
              <a:t>X should be a candidate key or super key for every functional dependency</a:t>
            </a:r>
            <a:br>
              <a:rPr lang="en-US" dirty="0"/>
            </a:br>
            <a:r>
              <a:rPr lang="en-US" dirty="0"/>
              <a:t>(FD) X -&gt; Y in a given relation.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75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Boyce-Codd Normal Form (BCNF)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CCA65D-F276-E080-A904-E6B669D3F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404211"/>
              </p:ext>
            </p:extLst>
          </p:nvPr>
        </p:nvGraphicFramePr>
        <p:xfrm>
          <a:off x="1411184" y="1724916"/>
          <a:ext cx="9053946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982">
                  <a:extLst>
                    <a:ext uri="{9D8B030D-6E8A-4147-A177-3AD203B41FA5}">
                      <a16:colId xmlns:a16="http://schemas.microsoft.com/office/drawing/2014/main" val="1254000616"/>
                    </a:ext>
                  </a:extLst>
                </a:gridCol>
                <a:gridCol w="3017982">
                  <a:extLst>
                    <a:ext uri="{9D8B030D-6E8A-4147-A177-3AD203B41FA5}">
                      <a16:colId xmlns:a16="http://schemas.microsoft.com/office/drawing/2014/main" val="1270752853"/>
                    </a:ext>
                  </a:extLst>
                </a:gridCol>
                <a:gridCol w="3017982">
                  <a:extLst>
                    <a:ext uri="{9D8B030D-6E8A-4147-A177-3AD203B41FA5}">
                      <a16:colId xmlns:a16="http://schemas.microsoft.com/office/drawing/2014/main" val="2258779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student_id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86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849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990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Johnson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626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Johnson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Lee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598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CF74B-763B-2A18-F68F-3C2FFC552C0B}"/>
              </a:ext>
            </a:extLst>
          </p:cNvPr>
          <p:cNvSpPr txBox="1"/>
          <p:nvPr/>
        </p:nvSpPr>
        <p:spPr>
          <a:xfrm>
            <a:off x="1292639" y="4185513"/>
            <a:ext cx="4029097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Functional </a:t>
            </a:r>
            <a:r>
              <a:rPr lang="en-US" b="1" dirty="0" err="1"/>
              <a:t>Dependancies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student_id,course</a:t>
            </a:r>
            <a:r>
              <a:rPr lang="en-US" dirty="0"/>
              <a:t>) → instructor</a:t>
            </a:r>
          </a:p>
          <a:p>
            <a:pPr>
              <a:lnSpc>
                <a:spcPct val="150000"/>
              </a:lnSpc>
            </a:pPr>
            <a:r>
              <a:rPr lang="en-US" dirty="0"/>
              <a:t>Instructor → course</a:t>
            </a:r>
            <a:br>
              <a:rPr lang="en-US" dirty="0"/>
            </a:br>
            <a:r>
              <a:rPr lang="en-US" b="1" dirty="0"/>
              <a:t>Candidate key: </a:t>
            </a:r>
            <a:r>
              <a:rPr lang="en-US" dirty="0"/>
              <a:t>(</a:t>
            </a:r>
            <a:r>
              <a:rPr lang="en-US" dirty="0" err="1"/>
              <a:t>student_id</a:t>
            </a:r>
            <a:r>
              <a:rPr lang="en-US" dirty="0"/>
              <a:t>, course)</a:t>
            </a:r>
          </a:p>
          <a:p>
            <a:endParaRPr lang="en-NP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6C916-BD6E-EF08-166F-D9F3290ABFD2}"/>
              </a:ext>
            </a:extLst>
          </p:cNvPr>
          <p:cNvSpPr txBox="1"/>
          <p:nvPr/>
        </p:nvSpPr>
        <p:spPr>
          <a:xfrm>
            <a:off x="5732317" y="4099915"/>
            <a:ext cx="5858989" cy="217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NP" b="1" dirty="0"/>
              <a:t>Check BCNF: </a:t>
            </a:r>
            <a:br>
              <a:rPr lang="en-NP" dirty="0"/>
            </a:br>
            <a:r>
              <a:rPr lang="en-NP" dirty="0"/>
              <a:t>(student_id,course) </a:t>
            </a:r>
            <a:r>
              <a:rPr lang="en-US" dirty="0"/>
              <a:t>→ </a:t>
            </a:r>
            <a:r>
              <a:rPr lang="en-NP" dirty="0"/>
              <a:t>instructor (Left side is a super key or candidate key.</a:t>
            </a:r>
            <a:br>
              <a:rPr lang="en-NP" dirty="0"/>
            </a:br>
            <a:r>
              <a:rPr lang="en-NP" dirty="0"/>
              <a:t>instructor </a:t>
            </a:r>
            <a:r>
              <a:rPr lang="en-US" dirty="0"/>
              <a:t>→ </a:t>
            </a:r>
            <a:r>
              <a:rPr lang="en-NP" dirty="0"/>
              <a:t>course (Left side is not a super key or candidate key. </a:t>
            </a:r>
          </a:p>
        </p:txBody>
      </p:sp>
      <p:pic>
        <p:nvPicPr>
          <p:cNvPr id="11" name="Graphic 10" descr="Checkmark">
            <a:extLst>
              <a:ext uri="{FF2B5EF4-FFF2-40B4-BE49-F238E27FC236}">
                <a16:creationId xmlns:a16="http://schemas.microsoft.com/office/drawing/2014/main" id="{245AE694-5997-267A-D2D2-0EE47FD3B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0358" y="5049180"/>
            <a:ext cx="232354" cy="350157"/>
          </a:xfrm>
          <a:prstGeom prst="rect">
            <a:avLst/>
          </a:prstGeom>
        </p:spPr>
      </p:pic>
      <p:pic>
        <p:nvPicPr>
          <p:cNvPr id="13" name="Graphic 12" descr="Close">
            <a:extLst>
              <a:ext uri="{FF2B5EF4-FFF2-40B4-BE49-F238E27FC236}">
                <a16:creationId xmlns:a16="http://schemas.microsoft.com/office/drawing/2014/main" id="{A5ED7993-56C7-A6DD-3474-8127E099F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4727" y="5913912"/>
            <a:ext cx="258288" cy="25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10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Convert into BCNF (Decompose)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8B0FFE69-2253-B2DE-705E-0D0494828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91602"/>
              </p:ext>
            </p:extLst>
          </p:nvPr>
        </p:nvGraphicFramePr>
        <p:xfrm>
          <a:off x="1371600" y="2045456"/>
          <a:ext cx="4719452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9726">
                  <a:extLst>
                    <a:ext uri="{9D8B030D-6E8A-4147-A177-3AD203B41FA5}">
                      <a16:colId xmlns:a16="http://schemas.microsoft.com/office/drawing/2014/main" val="1083051938"/>
                    </a:ext>
                  </a:extLst>
                </a:gridCol>
                <a:gridCol w="2359726">
                  <a:extLst>
                    <a:ext uri="{9D8B030D-6E8A-4147-A177-3AD203B41FA5}">
                      <a16:colId xmlns:a16="http://schemas.microsoft.com/office/drawing/2014/main" val="2722217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19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Prof.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5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Prof. Johnson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104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Prof. Lee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12380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7BB836-3706-B60B-2453-C73476DB0F8D}"/>
              </a:ext>
            </a:extLst>
          </p:cNvPr>
          <p:cNvSpPr txBox="1"/>
          <p:nvPr/>
        </p:nvSpPr>
        <p:spPr>
          <a:xfrm>
            <a:off x="1371600" y="3762971"/>
            <a:ext cx="3134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b="1" dirty="0"/>
              <a:t>Relation R1: </a:t>
            </a:r>
            <a:r>
              <a:rPr lang="en-NP" dirty="0"/>
              <a:t>(instructor, course)</a:t>
            </a:r>
            <a:br>
              <a:rPr lang="en-NP" dirty="0"/>
            </a:br>
            <a:r>
              <a:rPr lang="en-NP" dirty="0"/>
              <a:t>From FD: instructor -&gt; course</a:t>
            </a:r>
            <a:br>
              <a:rPr lang="en-NP" dirty="0"/>
            </a:br>
            <a:r>
              <a:rPr lang="en-NP" dirty="0"/>
              <a:t>Candidate key: instructor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F7E73B-FA76-EBD4-C76E-1269A9FD0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849237"/>
              </p:ext>
            </p:extLst>
          </p:nvPr>
        </p:nvGraphicFramePr>
        <p:xfrm>
          <a:off x="6428508" y="2062516"/>
          <a:ext cx="4802580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1290">
                  <a:extLst>
                    <a:ext uri="{9D8B030D-6E8A-4147-A177-3AD203B41FA5}">
                      <a16:colId xmlns:a16="http://schemas.microsoft.com/office/drawing/2014/main" val="4210800663"/>
                    </a:ext>
                  </a:extLst>
                </a:gridCol>
                <a:gridCol w="2401290">
                  <a:extLst>
                    <a:ext uri="{9D8B030D-6E8A-4147-A177-3AD203B41FA5}">
                      <a16:colId xmlns:a16="http://schemas.microsoft.com/office/drawing/2014/main" val="4148852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 err="1"/>
                        <a:t>student_id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69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914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3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Johnson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47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Prof. Johnson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564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Lee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56480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B9A7E67-5E0F-60D3-7F22-B6B2CD191213}"/>
              </a:ext>
            </a:extLst>
          </p:cNvPr>
          <p:cNvSpPr txBox="1"/>
          <p:nvPr/>
        </p:nvSpPr>
        <p:spPr>
          <a:xfrm>
            <a:off x="6428508" y="4452534"/>
            <a:ext cx="3795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b="1" dirty="0"/>
              <a:t>Relation R2: </a:t>
            </a:r>
            <a:r>
              <a:rPr lang="en-NP" dirty="0"/>
              <a:t>(student_id, instructor)</a:t>
            </a:r>
            <a:br>
              <a:rPr lang="en-NP" dirty="0"/>
            </a:br>
            <a:r>
              <a:rPr lang="en-NP" dirty="0"/>
              <a:t>Candidate key: (student_id, instructor)</a:t>
            </a:r>
          </a:p>
        </p:txBody>
      </p:sp>
    </p:spTree>
    <p:extLst>
      <p:ext uri="{BB962C8B-B14F-4D97-AF65-F5344CB8AC3E}">
        <p14:creationId xmlns:p14="http://schemas.microsoft.com/office/powerpoint/2010/main" val="409212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828" y="658812"/>
            <a:ext cx="9601200" cy="1485900"/>
          </a:xfrm>
        </p:spPr>
        <p:txBody>
          <a:bodyPr/>
          <a:lstStyle/>
          <a:p>
            <a:r>
              <a:rPr lang="en-US" b="1" dirty="0"/>
              <a:t>Fourth Normal Form (4NF)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D63ACE-BF23-903B-7426-C05B982E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28" y="1847850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NP" dirty="0"/>
              <a:t>A relation is in 4NF if:</a:t>
            </a:r>
          </a:p>
          <a:p>
            <a:pPr>
              <a:lnSpc>
                <a:spcPct val="150000"/>
              </a:lnSpc>
            </a:pPr>
            <a:r>
              <a:rPr lang="en-NP" dirty="0"/>
              <a:t>The relation is in BCNF.</a:t>
            </a:r>
          </a:p>
          <a:p>
            <a:pPr>
              <a:lnSpc>
                <a:spcPct val="150000"/>
              </a:lnSpc>
            </a:pPr>
            <a:r>
              <a:rPr lang="en-NP" dirty="0"/>
              <a:t>The relation should not have multivalued dependancy.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28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52" y="401701"/>
            <a:ext cx="9601200" cy="1485900"/>
          </a:xfrm>
        </p:spPr>
        <p:txBody>
          <a:bodyPr/>
          <a:lstStyle/>
          <a:p>
            <a:r>
              <a:rPr lang="en-US" b="1" dirty="0"/>
              <a:t>Example of 4NF violation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357BFA-785F-2F33-F898-CA841DC2E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46552"/>
              </p:ext>
            </p:extLst>
          </p:nvPr>
        </p:nvGraphicFramePr>
        <p:xfrm>
          <a:off x="1557152" y="1704759"/>
          <a:ext cx="8377051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3183">
                  <a:extLst>
                    <a:ext uri="{9D8B030D-6E8A-4147-A177-3AD203B41FA5}">
                      <a16:colId xmlns:a16="http://schemas.microsoft.com/office/drawing/2014/main" val="3329632140"/>
                    </a:ext>
                  </a:extLst>
                </a:gridCol>
                <a:gridCol w="2783183">
                  <a:extLst>
                    <a:ext uri="{9D8B030D-6E8A-4147-A177-3AD203B41FA5}">
                      <a16:colId xmlns:a16="http://schemas.microsoft.com/office/drawing/2014/main" val="2315411382"/>
                    </a:ext>
                  </a:extLst>
                </a:gridCol>
                <a:gridCol w="2810685">
                  <a:extLst>
                    <a:ext uri="{9D8B030D-6E8A-4147-A177-3AD203B41FA5}">
                      <a16:colId xmlns:a16="http://schemas.microsoft.com/office/drawing/2014/main" val="200051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hobby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408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196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Painting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519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146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Painting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7211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3A3A58-1662-D707-4A85-AEEE5675CB52}"/>
              </a:ext>
            </a:extLst>
          </p:cNvPr>
          <p:cNvSpPr txBox="1"/>
          <p:nvPr/>
        </p:nvSpPr>
        <p:spPr>
          <a:xfrm>
            <a:off x="1501807" y="3800104"/>
            <a:ext cx="4855945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NP" b="1" dirty="0"/>
              <a:t>Multivalued Dependancies: </a:t>
            </a:r>
            <a:br>
              <a:rPr lang="en-NP" dirty="0"/>
            </a:br>
            <a:r>
              <a:rPr lang="en-NP" dirty="0"/>
              <a:t>student -&gt;&gt; subject</a:t>
            </a:r>
            <a:br>
              <a:rPr lang="en-NP" dirty="0"/>
            </a:br>
            <a:r>
              <a:rPr lang="en-NP" dirty="0"/>
              <a:t>student -&gt;&gt; hobby</a:t>
            </a:r>
          </a:p>
          <a:p>
            <a:pPr>
              <a:lnSpc>
                <a:spcPct val="150000"/>
              </a:lnSpc>
            </a:pPr>
            <a:r>
              <a:rPr lang="en-US" dirty="0"/>
              <a:t>S</a:t>
            </a:r>
            <a:r>
              <a:rPr lang="en-NP" dirty="0"/>
              <a:t>ubject and hobby are independent of each other</a:t>
            </a:r>
          </a:p>
        </p:txBody>
      </p:sp>
    </p:spTree>
    <p:extLst>
      <p:ext uri="{BB962C8B-B14F-4D97-AF65-F5344CB8AC3E}">
        <p14:creationId xmlns:p14="http://schemas.microsoft.com/office/powerpoint/2010/main" val="3098844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B07-6ADB-4082-BBC9-2006EB91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923" y="562895"/>
            <a:ext cx="9601200" cy="1485900"/>
          </a:xfrm>
        </p:spPr>
        <p:txBody>
          <a:bodyPr/>
          <a:lstStyle/>
          <a:p>
            <a:r>
              <a:rPr lang="en-US" b="1" dirty="0"/>
              <a:t>Convert into 4NF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F9DF-C2EC-6365-74CE-1B528DA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3607DC-CCFA-4168-D170-9D000E068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925830"/>
              </p:ext>
            </p:extLst>
          </p:nvPr>
        </p:nvGraphicFramePr>
        <p:xfrm>
          <a:off x="1941732" y="1722013"/>
          <a:ext cx="5776356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88178">
                  <a:extLst>
                    <a:ext uri="{9D8B030D-6E8A-4147-A177-3AD203B41FA5}">
                      <a16:colId xmlns:a16="http://schemas.microsoft.com/office/drawing/2014/main" val="3169246261"/>
                    </a:ext>
                  </a:extLst>
                </a:gridCol>
                <a:gridCol w="2888178">
                  <a:extLst>
                    <a:ext uri="{9D8B030D-6E8A-4147-A177-3AD203B41FA5}">
                      <a16:colId xmlns:a16="http://schemas.microsoft.com/office/drawing/2014/main" val="4087868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76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40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72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41946F-B682-A8AD-82EB-0D6BBC58CCDD}"/>
              </a:ext>
            </a:extLst>
          </p:cNvPr>
          <p:cNvSpPr txBox="1"/>
          <p:nvPr/>
        </p:nvSpPr>
        <p:spPr>
          <a:xfrm>
            <a:off x="1813956" y="3023247"/>
            <a:ext cx="3015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b="1" dirty="0"/>
              <a:t>Relation R1: </a:t>
            </a:r>
            <a:r>
              <a:rPr lang="en-NP" dirty="0"/>
              <a:t>(student, subject)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A5C938-8D7A-B0CB-C7BF-75B49516D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364036"/>
              </p:ext>
            </p:extLst>
          </p:nvPr>
        </p:nvGraphicFramePr>
        <p:xfrm>
          <a:off x="1941732" y="3703885"/>
          <a:ext cx="5883234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41617">
                  <a:extLst>
                    <a:ext uri="{9D8B030D-6E8A-4147-A177-3AD203B41FA5}">
                      <a16:colId xmlns:a16="http://schemas.microsoft.com/office/drawing/2014/main" val="3903760526"/>
                    </a:ext>
                  </a:extLst>
                </a:gridCol>
                <a:gridCol w="2941617">
                  <a:extLst>
                    <a:ext uri="{9D8B030D-6E8A-4147-A177-3AD203B41FA5}">
                      <a16:colId xmlns:a16="http://schemas.microsoft.com/office/drawing/2014/main" val="259061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hobby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72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977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Painting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099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93CA853-8F3D-7896-235B-36B6F9D91ACB}"/>
              </a:ext>
            </a:extLst>
          </p:cNvPr>
          <p:cNvSpPr txBox="1"/>
          <p:nvPr/>
        </p:nvSpPr>
        <p:spPr>
          <a:xfrm>
            <a:off x="1813956" y="5112471"/>
            <a:ext cx="295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b="1" dirty="0"/>
              <a:t>Relation R2: </a:t>
            </a:r>
            <a:r>
              <a:rPr lang="en-NP" dirty="0"/>
              <a:t>(student, hobby)</a:t>
            </a:r>
            <a:endParaRPr lang="en-NP" b="1" dirty="0"/>
          </a:p>
        </p:txBody>
      </p:sp>
    </p:spTree>
    <p:extLst>
      <p:ext uri="{BB962C8B-B14F-4D97-AF65-F5344CB8AC3E}">
        <p14:creationId xmlns:p14="http://schemas.microsoft.com/office/powerpoint/2010/main" val="173978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8275-0276-66AB-42DB-494D85665DC2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9092308">
            <a:off x="3700389" y="825334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P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57DDB-B259-8EC0-44ED-8E69FBF2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41-0ACF-485D-A0A1-261548E680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8193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{4BB92753-61C7-514D-8540-28C5CB1F76D3}tf10001072</Template>
  <TotalTime>175</TotalTime>
  <Words>611</Words>
  <Application>Microsoft Macintosh PowerPoint</Application>
  <PresentationFormat>Widescreen</PresentationFormat>
  <Paragraphs>148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Book</vt:lpstr>
      <vt:lpstr>ui-sans-serif</vt:lpstr>
      <vt:lpstr>Crop</vt:lpstr>
      <vt:lpstr>Normalization</vt:lpstr>
      <vt:lpstr>Introduction to Database Normalization</vt:lpstr>
      <vt:lpstr>Why Do We Need Normalization?</vt:lpstr>
      <vt:lpstr>Normal Forms in DBMS</vt:lpstr>
      <vt:lpstr>First Normal Form (1NF)</vt:lpstr>
      <vt:lpstr>1NF Example</vt:lpstr>
      <vt:lpstr>1NF Example</vt:lpstr>
      <vt:lpstr>Second Normal Form (2NF)</vt:lpstr>
      <vt:lpstr>PowerPoint Presentation</vt:lpstr>
      <vt:lpstr>Third Normal Form (3NF)</vt:lpstr>
      <vt:lpstr>PowerPoint Presentation</vt:lpstr>
      <vt:lpstr>Boyce-Codd Normal Form (BCNF)</vt:lpstr>
      <vt:lpstr>Boyce-Codd Normal Form (BCNF)</vt:lpstr>
      <vt:lpstr>Convert into BCNF (Decompose)</vt:lpstr>
      <vt:lpstr>Fourth Normal Form (4NF)</vt:lpstr>
      <vt:lpstr>Example of 4NF violation</vt:lpstr>
      <vt:lpstr>Convert into 4NF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 Normalization</dc:title>
  <dc:creator>Sakshyam Tamrakar</dc:creator>
  <cp:lastModifiedBy>Microsoft Office User</cp:lastModifiedBy>
  <cp:revision>41</cp:revision>
  <dcterms:created xsi:type="dcterms:W3CDTF">2025-08-03T13:08:44Z</dcterms:created>
  <dcterms:modified xsi:type="dcterms:W3CDTF">2025-08-04T04:46:35Z</dcterms:modified>
</cp:coreProperties>
</file>